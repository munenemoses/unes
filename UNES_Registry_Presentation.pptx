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1" r:id="rId4"/>
    <p:sldId id="263" r:id="rId5"/>
    <p:sldId id="267" r:id="rId6"/>
    <p:sldId id="266" r:id="rId7"/>
  </p:sldIdLst>
  <p:sldSz cx="18288000" cy="10287000"/>
  <p:notesSz cx="6858000" cy="9144000"/>
  <p:embeddedFontLst>
    <p:embeddedFont>
      <p:font typeface="Aileron Heavy Bold" pitchFamily="2" charset="77"/>
      <p:regular r:id="rId8"/>
      <p:bold r:id="rId9"/>
    </p:embeddedFont>
    <p:embeddedFont>
      <p:font typeface="Aileron Regular" pitchFamily="2" charset="77"/>
      <p:regular r:id="rId10"/>
    </p:embeddedFont>
    <p:embeddedFont>
      <p:font typeface="Aileron Regular Bold" pitchFamily="2" charset="77"/>
      <p:regular r:id="rId11"/>
      <p:bold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 autoAdjust="0"/>
    <p:restoredTop sz="94576" autoAdjust="0"/>
  </p:normalViewPr>
  <p:slideViewPr>
    <p:cSldViewPr>
      <p:cViewPr varScale="1">
        <p:scale>
          <a:sx n="63" d="100"/>
          <a:sy n="63" d="100"/>
        </p:scale>
        <p:origin x="704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3/8/21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033250" y="5358627"/>
            <a:ext cx="10221499" cy="8104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6978"/>
              </a:lnSpc>
            </a:pPr>
            <a:r>
              <a:rPr lang="en-US" sz="4652" spc="186" dirty="0">
                <a:solidFill>
                  <a:srgbClr val="ECF2FE"/>
                </a:solidFill>
                <a:latin typeface="Aileron Regular"/>
              </a:rPr>
              <a:t>A Performance Indicator platform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036541" y="3009900"/>
            <a:ext cx="14415506" cy="15132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1769"/>
              </a:lnSpc>
            </a:pPr>
            <a:r>
              <a:rPr lang="en-US" sz="10999" spc="-109" dirty="0">
                <a:solidFill>
                  <a:srgbClr val="ECF2FE"/>
                </a:solidFill>
                <a:latin typeface="Aileron Regular Bold"/>
              </a:rPr>
              <a:t>UNES WEB REGISTRY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765527" y="751811"/>
            <a:ext cx="4756941" cy="807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6300"/>
              </a:lnSpc>
              <a:spcBef>
                <a:spcPct val="0"/>
              </a:spcBef>
            </a:pPr>
            <a:r>
              <a:rPr lang="fr-BE" altLang="en-KE" sz="5400" b="1" dirty="0"/>
              <a:t>How </a:t>
            </a:r>
            <a:r>
              <a:rPr lang="fr-BE" altLang="en-KE" sz="5400" b="1" dirty="0" err="1"/>
              <a:t>it</a:t>
            </a:r>
            <a:r>
              <a:rPr lang="fr-BE" altLang="en-KE" sz="5400" b="1" dirty="0"/>
              <a:t> </a:t>
            </a:r>
            <a:r>
              <a:rPr lang="fr-BE" altLang="en-KE" sz="5400" b="1" dirty="0" err="1"/>
              <a:t>will</a:t>
            </a:r>
            <a:r>
              <a:rPr lang="fr-BE" altLang="en-KE" sz="5400" b="1" dirty="0"/>
              <a:t> </a:t>
            </a:r>
            <a:r>
              <a:rPr lang="fr-BE" altLang="en-KE" sz="5400" b="1" dirty="0" err="1"/>
              <a:t>work</a:t>
            </a:r>
            <a:endParaRPr lang="en-US" sz="5000" dirty="0">
              <a:solidFill>
                <a:srgbClr val="08104D"/>
              </a:solidFill>
              <a:latin typeface="Aileron Heavy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729668" y="2486009"/>
            <a:ext cx="13935293" cy="633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92"/>
              </a:lnSpc>
              <a:spcBef>
                <a:spcPct val="0"/>
              </a:spcBef>
            </a:pPr>
            <a:endParaRPr lang="en-US" sz="4200" dirty="0">
              <a:solidFill>
                <a:srgbClr val="08104D"/>
              </a:solidFill>
              <a:latin typeface="Aileron Regular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514600" y="2137790"/>
            <a:ext cx="13935293" cy="633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92"/>
              </a:lnSpc>
              <a:spcBef>
                <a:spcPct val="0"/>
              </a:spcBef>
            </a:pPr>
            <a:r>
              <a:rPr lang="en-US" sz="4200" dirty="0">
                <a:solidFill>
                  <a:srgbClr val="08104D"/>
                </a:solidFill>
                <a:latin typeface="Aileron Regular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514600" y="1866900"/>
            <a:ext cx="13935293" cy="7448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BE" altLang="en-KE" sz="4400" dirty="0">
                <a:solidFill>
                  <a:srgbClr val="0B5395"/>
                </a:solidFill>
              </a:rPr>
              <a:t>It </a:t>
            </a:r>
            <a:r>
              <a:rPr lang="fr-BE" altLang="en-KE" sz="4400" dirty="0" err="1">
                <a:solidFill>
                  <a:srgbClr val="0B5395"/>
                </a:solidFill>
              </a:rPr>
              <a:t>assesses</a:t>
            </a:r>
            <a:r>
              <a:rPr lang="fr-BE" altLang="en-KE" sz="4400" dirty="0">
                <a:solidFill>
                  <a:srgbClr val="0B5395"/>
                </a:solidFill>
              </a:rPr>
              <a:t> the performance of the </a:t>
            </a:r>
            <a:r>
              <a:rPr lang="fr-BE" altLang="en-KE" sz="4400" dirty="0" err="1">
                <a:solidFill>
                  <a:srgbClr val="0B5395"/>
                </a:solidFill>
              </a:rPr>
              <a:t>facilities</a:t>
            </a:r>
            <a:r>
              <a:rPr lang="fr-BE" altLang="en-KE" sz="4400" dirty="0">
                <a:solidFill>
                  <a:srgbClr val="0B5395"/>
                </a:solidFill>
              </a:rPr>
              <a:t> </a:t>
            </a:r>
            <a:r>
              <a:rPr lang="fr-BE" altLang="en-KE" sz="4400" dirty="0" err="1">
                <a:solidFill>
                  <a:srgbClr val="0B5395"/>
                </a:solidFill>
              </a:rPr>
              <a:t>from</a:t>
            </a:r>
            <a:r>
              <a:rPr lang="fr-BE" altLang="en-KE" sz="4400" dirty="0">
                <a:solidFill>
                  <a:srgbClr val="0B5395"/>
                </a:solidFill>
              </a:rPr>
              <a:t> data </a:t>
            </a:r>
            <a:r>
              <a:rPr lang="fr-BE" altLang="en-KE" sz="4400" dirty="0" err="1">
                <a:solidFill>
                  <a:srgbClr val="0B5395"/>
                </a:solidFill>
              </a:rPr>
              <a:t>computed</a:t>
            </a:r>
            <a:r>
              <a:rPr lang="fr-BE" altLang="en-KE" sz="4400" dirty="0">
                <a:solidFill>
                  <a:srgbClr val="0B5395"/>
                </a:solidFill>
              </a:rPr>
              <a:t> </a:t>
            </a:r>
            <a:r>
              <a:rPr lang="fr-BE" altLang="en-KE" sz="4400" dirty="0" err="1">
                <a:solidFill>
                  <a:srgbClr val="0B5395"/>
                </a:solidFill>
              </a:rPr>
              <a:t>from</a:t>
            </a:r>
            <a:r>
              <a:rPr lang="fr-BE" altLang="en-KE" sz="4400" dirty="0">
                <a:solidFill>
                  <a:srgbClr val="0B5395"/>
                </a:solidFill>
              </a:rPr>
              <a:t> the files of the </a:t>
            </a:r>
            <a:r>
              <a:rPr lang="fr-BE" altLang="en-KE" sz="4400" dirty="0" err="1">
                <a:solidFill>
                  <a:srgbClr val="0B5395"/>
                </a:solidFill>
              </a:rPr>
              <a:t>said</a:t>
            </a:r>
            <a:r>
              <a:rPr lang="fr-BE" altLang="en-KE" sz="4400" dirty="0">
                <a:solidFill>
                  <a:srgbClr val="0B5395"/>
                </a:solidFill>
              </a:rPr>
              <a:t> </a:t>
            </a:r>
            <a:r>
              <a:rPr lang="fr-BE" altLang="en-KE" sz="4400" dirty="0" err="1">
                <a:solidFill>
                  <a:srgbClr val="0B5395"/>
                </a:solidFill>
              </a:rPr>
              <a:t>facility</a:t>
            </a:r>
            <a:r>
              <a:rPr lang="fr-BE" altLang="en-KE" sz="4400" dirty="0">
                <a:solidFill>
                  <a:srgbClr val="0B5395"/>
                </a:solidFill>
              </a:rPr>
              <a:t>. </a:t>
            </a:r>
          </a:p>
          <a:p>
            <a:endParaRPr lang="fr-BE" altLang="en-KE" sz="4400" dirty="0">
              <a:solidFill>
                <a:srgbClr val="0B5395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KE" sz="4400" dirty="0">
                <a:solidFill>
                  <a:srgbClr val="0B5395"/>
                </a:solidFill>
              </a:rPr>
              <a:t>Facilities will be clustered according to specialization and location.</a:t>
            </a:r>
          </a:p>
          <a:p>
            <a:endParaRPr lang="fr-BE" altLang="en-KE" sz="4400" dirty="0">
              <a:solidFill>
                <a:srgbClr val="0B5395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altLang="en-KE" sz="4400" dirty="0">
                <a:solidFill>
                  <a:srgbClr val="0B5395"/>
                </a:solidFill>
              </a:rPr>
              <a:t>Simplified documents are output in xml format.</a:t>
            </a:r>
          </a:p>
          <a:p>
            <a:endParaRPr lang="en-GB" altLang="en-KE" sz="4400" dirty="0">
              <a:solidFill>
                <a:srgbClr val="0B5395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altLang="en-KE" sz="4400" dirty="0">
                <a:solidFill>
                  <a:srgbClr val="0B5395"/>
                </a:solidFill>
              </a:rPr>
              <a:t>A cheaper and time efficient solution to carry out a thorough vetting process.</a:t>
            </a:r>
          </a:p>
          <a:p>
            <a:endParaRPr lang="en-GB" altLang="en-KE" sz="4400" dirty="0">
              <a:solidFill>
                <a:srgbClr val="0B539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-5400000">
            <a:off x="9004563" y="9805808"/>
            <a:ext cx="278873" cy="438229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000551" y="323490"/>
            <a:ext cx="4286896" cy="772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6500"/>
              </a:lnSpc>
              <a:spcBef>
                <a:spcPct val="0"/>
              </a:spcBef>
            </a:pPr>
            <a:r>
              <a:rPr lang="en-US" sz="5000" spc="-50" dirty="0">
                <a:solidFill>
                  <a:srgbClr val="08104D"/>
                </a:solidFill>
                <a:latin typeface="Aileron Regular Bold"/>
              </a:rPr>
              <a:t>Facility ID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09738" y="1536573"/>
            <a:ext cx="16049562" cy="3009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lnSpc>
                <a:spcPts val="5963"/>
              </a:lnSpc>
              <a:spcBef>
                <a:spcPct val="0"/>
              </a:spcBef>
            </a:pPr>
            <a:r>
              <a:rPr lang="en-US" sz="4400" dirty="0">
                <a:solidFill>
                  <a:srgbClr val="0B5395"/>
                </a:solidFill>
              </a:rPr>
              <a:t>The Facility ID will be used by an Intelligent Data Repository to collect and validate facility data about performance and store the verified data in a unique 11 character identifier.</a:t>
            </a:r>
          </a:p>
          <a:p>
            <a:pPr lvl="0" algn="just">
              <a:lnSpc>
                <a:spcPts val="5963"/>
              </a:lnSpc>
              <a:spcBef>
                <a:spcPct val="0"/>
              </a:spcBef>
            </a:pPr>
            <a:endParaRPr lang="en-US" sz="4199" dirty="0">
              <a:solidFill>
                <a:srgbClr val="08104D"/>
              </a:solidFill>
              <a:latin typeface="Aileron Regular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209738" y="4354449"/>
            <a:ext cx="16049562" cy="726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indent="0" algn="just">
              <a:lnSpc>
                <a:spcPts val="5963"/>
              </a:lnSpc>
              <a:spcBef>
                <a:spcPct val="0"/>
              </a:spcBef>
            </a:pPr>
            <a:r>
              <a:rPr lang="en-US" sz="4400" dirty="0">
                <a:solidFill>
                  <a:srgbClr val="0B5395"/>
                </a:solidFill>
              </a:rPr>
              <a:t>The data collected will be used to calculate the performance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9218" y="5926213"/>
            <a:ext cx="16049562" cy="2264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lnSpc>
                <a:spcPts val="5963"/>
              </a:lnSpc>
              <a:spcBef>
                <a:spcPct val="0"/>
              </a:spcBef>
            </a:pPr>
            <a:r>
              <a:rPr lang="en-US" sz="4400" dirty="0">
                <a:solidFill>
                  <a:srgbClr val="0B5395"/>
                </a:solidFill>
              </a:rPr>
              <a:t>Facility with lower performance will be regarded as highly risky and needs improvement while those with high performance will be regarded as low risky to deal with.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-5400000">
            <a:off x="9004563" y="9805808"/>
            <a:ext cx="278873" cy="438229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493103" y="1485900"/>
            <a:ext cx="4863564" cy="7726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6500"/>
              </a:lnSpc>
              <a:spcBef>
                <a:spcPct val="0"/>
              </a:spcBef>
            </a:pPr>
            <a:r>
              <a:rPr lang="en-US" sz="5000" spc="-50" dirty="0">
                <a:solidFill>
                  <a:srgbClr val="08104D"/>
                </a:solidFill>
                <a:latin typeface="Aileron Heavy Bold"/>
              </a:rPr>
              <a:t> Search Option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9218" y="3619500"/>
            <a:ext cx="16049562" cy="2264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indent="0" algn="just">
              <a:lnSpc>
                <a:spcPts val="5963"/>
              </a:lnSpc>
              <a:spcBef>
                <a:spcPct val="0"/>
              </a:spcBef>
            </a:pPr>
            <a:r>
              <a:rPr lang="en-US" sz="4400" dirty="0">
                <a:solidFill>
                  <a:srgbClr val="0B5395"/>
                </a:solidFill>
              </a:rPr>
              <a:t>You can search for a facility in two ways:</a:t>
            </a:r>
          </a:p>
          <a:p>
            <a:pPr indent="-571500" algn="just">
              <a:lnSpc>
                <a:spcPts val="5963"/>
              </a:lnSpc>
              <a:spcBef>
                <a:spcPct val="0"/>
              </a:spcBef>
              <a:buFont typeface="Wingdings" pitchFamily="2" charset="2"/>
              <a:buChar char="Ø"/>
            </a:pPr>
            <a:r>
              <a:rPr lang="en-US" sz="4400" dirty="0">
                <a:solidFill>
                  <a:srgbClr val="0B5395"/>
                </a:solidFill>
              </a:rPr>
              <a:t>Clustered- Location, </a:t>
            </a:r>
            <a:r>
              <a:rPr lang="en-US" sz="4400" dirty="0" err="1">
                <a:solidFill>
                  <a:srgbClr val="0B5395"/>
                </a:solidFill>
              </a:rPr>
              <a:t>perfomance</a:t>
            </a:r>
            <a:r>
              <a:rPr lang="en-US" sz="4400" dirty="0">
                <a:solidFill>
                  <a:srgbClr val="0B5395"/>
                </a:solidFill>
              </a:rPr>
              <a:t> and specialization</a:t>
            </a:r>
          </a:p>
          <a:p>
            <a:pPr indent="-571500" algn="just">
              <a:lnSpc>
                <a:spcPts val="5963"/>
              </a:lnSpc>
              <a:spcBef>
                <a:spcPct val="0"/>
              </a:spcBef>
              <a:buFont typeface="Wingdings" pitchFamily="2" charset="2"/>
              <a:buChar char="Ø"/>
            </a:pPr>
            <a:r>
              <a:rPr lang="en-US" sz="4400" dirty="0">
                <a:solidFill>
                  <a:srgbClr val="0B5395"/>
                </a:solidFill>
              </a:rPr>
              <a:t>Facility ID-  Specific </a:t>
            </a:r>
            <a:r>
              <a:rPr lang="en-US" sz="4400" dirty="0" err="1">
                <a:solidFill>
                  <a:srgbClr val="0B5395"/>
                </a:solidFill>
              </a:rPr>
              <a:t>facilty</a:t>
            </a:r>
            <a:r>
              <a:rPr lang="en-US" sz="4400" dirty="0">
                <a:solidFill>
                  <a:srgbClr val="0B5395"/>
                </a:solidFill>
              </a:rPr>
              <a:t> detail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-5400000">
            <a:off x="9004563" y="9805808"/>
            <a:ext cx="278873" cy="438229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7218436" y="833782"/>
            <a:ext cx="3412897" cy="7726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6500"/>
              </a:lnSpc>
              <a:spcBef>
                <a:spcPct val="0"/>
              </a:spcBef>
            </a:pPr>
            <a:r>
              <a:rPr lang="en-US" sz="5000" spc="-50" dirty="0">
                <a:solidFill>
                  <a:srgbClr val="08104D"/>
                </a:solidFill>
                <a:latin typeface="Aileron Heavy Bold"/>
              </a:rPr>
              <a:t>Road-Map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AAD926-DADA-6349-9C8E-04C0817E521F}"/>
              </a:ext>
            </a:extLst>
          </p:cNvPr>
          <p:cNvSpPr/>
          <p:nvPr/>
        </p:nvSpPr>
        <p:spPr>
          <a:xfrm>
            <a:off x="1447800" y="4457700"/>
            <a:ext cx="2743200" cy="68580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E" dirty="0"/>
              <a:t>Discovery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FA8766-C996-9644-9724-377F004DACBB}"/>
              </a:ext>
            </a:extLst>
          </p:cNvPr>
          <p:cNvSpPr/>
          <p:nvPr/>
        </p:nvSpPr>
        <p:spPr>
          <a:xfrm>
            <a:off x="2819400" y="6019798"/>
            <a:ext cx="27432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E" dirty="0"/>
              <a:t>Planning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8D10B1-3EB5-E240-9053-EB2B595ABF23}"/>
              </a:ext>
            </a:extLst>
          </p:cNvPr>
          <p:cNvSpPr/>
          <p:nvPr/>
        </p:nvSpPr>
        <p:spPr>
          <a:xfrm>
            <a:off x="6019800" y="4457698"/>
            <a:ext cx="2743201" cy="6858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E" dirty="0"/>
              <a:t>Design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159F08-6FFD-B947-A4B5-36562F670F38}"/>
              </a:ext>
            </a:extLst>
          </p:cNvPr>
          <p:cNvSpPr/>
          <p:nvPr/>
        </p:nvSpPr>
        <p:spPr>
          <a:xfrm>
            <a:off x="7437550" y="6019798"/>
            <a:ext cx="2743201" cy="6858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E" dirty="0"/>
              <a:t>Development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1A03C0-AD03-164C-A984-B809E7262629}"/>
              </a:ext>
            </a:extLst>
          </p:cNvPr>
          <p:cNvSpPr/>
          <p:nvPr/>
        </p:nvSpPr>
        <p:spPr>
          <a:xfrm>
            <a:off x="10396217" y="4457698"/>
            <a:ext cx="2743201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E" dirty="0"/>
              <a:t>Testing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735D7E-42D6-4147-BFA6-40A80CD5FE8F}"/>
              </a:ext>
            </a:extLst>
          </p:cNvPr>
          <p:cNvSpPr/>
          <p:nvPr/>
        </p:nvSpPr>
        <p:spPr>
          <a:xfrm>
            <a:off x="11767818" y="5961376"/>
            <a:ext cx="2743201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E" dirty="0"/>
              <a:t>Maintainance</a:t>
            </a:r>
          </a:p>
        </p:txBody>
      </p: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6752991A-F536-0446-B3F4-5E2C780AEA73}"/>
              </a:ext>
            </a:extLst>
          </p:cNvPr>
          <p:cNvCxnSpPr>
            <a:stCxn id="3" idx="3"/>
          </p:cNvCxnSpPr>
          <p:nvPr/>
        </p:nvCxnSpPr>
        <p:spPr>
          <a:xfrm>
            <a:off x="4191000" y="4800600"/>
            <a:ext cx="228600" cy="1219198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459D2385-611B-E449-9F8E-593CA69AF2A5}"/>
              </a:ext>
            </a:extLst>
          </p:cNvPr>
          <p:cNvCxnSpPr>
            <a:endCxn id="7" idx="1"/>
          </p:cNvCxnSpPr>
          <p:nvPr/>
        </p:nvCxnSpPr>
        <p:spPr>
          <a:xfrm rot="5400000" flipH="1" flipV="1">
            <a:off x="5181601" y="5181599"/>
            <a:ext cx="1219199" cy="457200"/>
          </a:xfrm>
          <a:prstGeom prst="bentConnector2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87BF50BC-A54B-6B41-AD48-D321129496C8}"/>
              </a:ext>
            </a:extLst>
          </p:cNvPr>
          <p:cNvCxnSpPr>
            <a:stCxn id="7" idx="3"/>
          </p:cNvCxnSpPr>
          <p:nvPr/>
        </p:nvCxnSpPr>
        <p:spPr>
          <a:xfrm>
            <a:off x="8763001" y="4800599"/>
            <a:ext cx="266698" cy="1219199"/>
          </a:xfrm>
          <a:prstGeom prst="bentConnector2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8E78FAFF-777F-D14E-9A1E-3CED6E098740}"/>
              </a:ext>
            </a:extLst>
          </p:cNvPr>
          <p:cNvCxnSpPr>
            <a:cxnSpLocks/>
            <a:endCxn id="9" idx="1"/>
          </p:cNvCxnSpPr>
          <p:nvPr/>
        </p:nvCxnSpPr>
        <p:spPr>
          <a:xfrm rot="5400000" flipH="1" flipV="1">
            <a:off x="9580032" y="5185830"/>
            <a:ext cx="1201417" cy="430954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50743454-EBFD-4E4E-92BD-31605C9F0020}"/>
              </a:ext>
            </a:extLst>
          </p:cNvPr>
          <p:cNvCxnSpPr>
            <a:stCxn id="9" idx="3"/>
          </p:cNvCxnSpPr>
          <p:nvPr/>
        </p:nvCxnSpPr>
        <p:spPr>
          <a:xfrm>
            <a:off x="13139418" y="4800598"/>
            <a:ext cx="271782" cy="1160778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7672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-5400000">
            <a:off x="9004563" y="9805808"/>
            <a:ext cx="278873" cy="438229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5457785" y="4631833"/>
            <a:ext cx="6934200" cy="1023334"/>
            <a:chOff x="0" y="-38100"/>
            <a:chExt cx="13679066" cy="1364446"/>
          </a:xfrm>
        </p:grpSpPr>
        <p:sp>
          <p:nvSpPr>
            <p:cNvPr id="4" name="TextBox 4"/>
            <p:cNvSpPr txBox="1"/>
            <p:nvPr/>
          </p:nvSpPr>
          <p:spPr>
            <a:xfrm>
              <a:off x="0" y="-38100"/>
              <a:ext cx="13679066" cy="6181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3900"/>
                </a:lnSpc>
                <a:spcBef>
                  <a:spcPct val="0"/>
                </a:spcBef>
              </a:pPr>
              <a:r>
                <a:rPr lang="en-US" sz="3000" spc="-30" dirty="0">
                  <a:solidFill>
                    <a:srgbClr val="08104D"/>
                  </a:solidFill>
                  <a:latin typeface="Aileron Heavy Bold"/>
                </a:rPr>
                <a:t>MUNENE MOSES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616882"/>
              <a:ext cx="13679066" cy="7094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4544"/>
                </a:lnSpc>
              </a:pPr>
              <a:r>
                <a:rPr lang="en-US" sz="3200" dirty="0">
                  <a:solidFill>
                    <a:srgbClr val="08104D"/>
                  </a:solidFill>
                  <a:latin typeface="Aileron Regular"/>
                </a:rPr>
                <a:t>Software Developer | Data Scientist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192569" y="2600875"/>
            <a:ext cx="3902860" cy="784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6500"/>
              </a:lnSpc>
              <a:spcBef>
                <a:spcPct val="0"/>
              </a:spcBef>
            </a:pPr>
            <a:r>
              <a:rPr lang="en-US" sz="4800" u="none" spc="-50" dirty="0">
                <a:solidFill>
                  <a:srgbClr val="08104D"/>
                </a:solidFill>
                <a:latin typeface="Aileron Heavy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924</TotalTime>
  <Words>173</Words>
  <Application>Microsoft Macintosh PowerPoint</Application>
  <PresentationFormat>Custom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Aileron Regular Bold</vt:lpstr>
      <vt:lpstr>Aileron Heavy Bold</vt:lpstr>
      <vt:lpstr>Calibri</vt:lpstr>
      <vt:lpstr>Aileron Regular</vt:lpstr>
      <vt:lpstr>Wingdings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FINSHIELD_Presentation</dc:title>
  <cp:lastModifiedBy>Microsoft Office User</cp:lastModifiedBy>
  <cp:revision>13</cp:revision>
  <dcterms:created xsi:type="dcterms:W3CDTF">2006-08-16T00:00:00Z</dcterms:created>
  <dcterms:modified xsi:type="dcterms:W3CDTF">2021-03-09T07:42:32Z</dcterms:modified>
  <dc:identifier>DAENZXXE5xc</dc:identifier>
</cp:coreProperties>
</file>